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Roboto Mon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C2F35D-3216-4F80-968A-3E8D3DFD23ED}">
  <a:tblStyle styleId="{6BC2F35D-3216-4F80-968A-3E8D3DFD23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BB10B2B-09E8-4361-938B-2A9405A3DC9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4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RobotoMono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835a7727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835a7727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안녕하세요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BRIDGE 팀의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Codefab Interpreter 프로젝트 발표를 시작하겠습니다.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저희는 팀원들간의 코드리뷰를 통해 팀원간 연결되고, 더 나은 코드를 지향하여 BRIDGE 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835a77276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835a77276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목차는 다음과 같습니다.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835a77276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835a77276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① 요구사항 분석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프로젝트 목표 및 기능 요구사항 분석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테스트 시나리오 및 예외 케이스 도출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팀원 간 요구사항 해석 및 구현 방향 협의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기능별 개발 범위 및 역할 분담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② Skeleton Code 구현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Claude를 활용하여 프로젝트의 기본 구조(Skeleton Code) 생성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클래스, 인터페이스, 메서드 시그니처 및 테스트 코드 골격 작성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팀원들이 병렬 개발할 수 있도록 공통 개발 기반 마련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초기 설계 방향 및 객체 간 관계 정의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③ 개발 진행 (병렬)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TDD 방식으로 기능 구현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담당 기능별 단위 테스트 작성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Mock 객체를 활용하여 의존성 분리 및 테스트 수행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팀원별 브랜치에서 독립적으로 개발 진행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④ Code Review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Pull Request 기반 상호 코드 리뷰 진행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코드 스타일, 가독성, 설계 관점 검토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중복 코드 및 리팩토링 포인트 식별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테스트 코드 품질 및 예외 처리 로직 검증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⑤ Code 수정 및 Merge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리뷰 의견 반영 및 코드 개선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테스트 재수행을 통한 안정성 검증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브랜치 Merge 및 충돌 해결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. 최종 코드 정리 및 프로젝트 마무리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a227dcfa7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a227dcfa7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a227dcfa7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a227dcfa7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a227dcfa7_1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a227dcfa7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a63176c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a63176c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리뷰를 통해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코드리뷰 전에는 단일 비교 연산자만 인식할 수 있었는데, 리뷰 과정에서 match() 로직을 적용하여 &gt;=, &lt;=, ==, != 와 같은 복합 연산자도 처리하도록 개선하여 확장성과 가독성을 높인 사례 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a227dcfa7_1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a227dcfa7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Assembler 보다 Checker 를 먼저 개발해주셔서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TDD 하면서 개발이 아직 안된 부분을 Mock 객체로 만들었는데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이후에 개발이 되면서 Mock 객체랑 Stub 를 없앴습니다.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그래서 리뷰 내용을 반영해주셨습니다.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835a7727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835a7727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  </a:t>
            </a:r>
            <a:r>
              <a:rPr lang="ko"/>
              <a:t>올릴 때 리뷰어분들이 참고할 수 있도록 최대한 수정 내용도 반영을 했습니다.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835a77276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835a77276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크게 3 Unit 으로 동작하다 보니 해당 기준으로 역할 분담을 했고,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구현하면서 공통적으로 필요한 모듈에 대해서는 같이 개발을 했습니다.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a227dcfa7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a227dcfa7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쉘에서 실행을 할 때 JAVA_HOME 이라던지 인코딩 방식 등 실행 옵션을 제어하여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크로스 플랫폼 지원이 되게끔 했고,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소스코드 입력을 받습니다.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Lexer 소스 코드를 읽어서 키워드, 변수명, 숫자, 연산자 등을 Token 단위로 분리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Parser는 Lexer가 생성한 Token들을 문법 규칙에 따라 분석하여 트리 구조로 변환하고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Checker 는 트리 구조로 변환한 것을 DFS 로 순회 하면서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변수를 읽는 시점에 스코프를 거슬러 올라가면서 변수가 defined 된 곳과의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거리인 depth 를 계산해서 노드에 기록하거나,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런타임 전에 100% 확정되는 수식을 미리 계산 해놓고 노드에 저장을 해놓는 상수 폴딩으로 최적화를 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Executor는 실행하는 시점에 depth 를 참조해 O(1) 으로 변수의 값을 읽고, 또 상수 폴딩 결과가 있으면 자식 노드들의 평가를 건너 뛰는 식으로 평가를 수행합니다.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그리고 Environment 는 스코프 리스트가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각 scope 에는 진입할 때마다 리스트에 push 가 되고 인덱스 0 이 전역 인것이고요.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Checker 랑 Executor 가 둘다 참조를 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Checker 가 노드 탐색 시점에 사용 가능한 변수들 이름을 저장하고 Executor 가 런타임때 값을 불러옵니다.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a227dcfa7_1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a227dcfa7_1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요구사항에 있는 기능들은 다 구현했습니다.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a227dcfa7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a227dcfa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a1c2ae961_3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a1c2ae961_3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TDD 방식을 적용한 대표 사례는 Lexer를 구현</a:t>
            </a:r>
            <a:r>
              <a:rPr lang="ko">
                <a:solidFill>
                  <a:schemeClr val="dk1"/>
                </a:solidFill>
              </a:rPr>
              <a:t>한 것입니다.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Red 단계에서는 커밋을 하지 않고, Green 및 리팩토링(Refactoring)이 완료된 시점에 커밋을 나누어 진행했습니다. 이후 PR을 올리면 팀원들의 코드 리뷰를 통해 검증을 마쳤습니다.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Lexer 구현시 잘한 점</a:t>
            </a:r>
            <a:r>
              <a:rPr lang="ko">
                <a:solidFill>
                  <a:schemeClr val="dk1"/>
                </a:solidFill>
              </a:rPr>
              <a:t>은 커밋 단위를 기능별로 쪼개어 어느 시점에 어떤 기능이 추가되었는지 이력을 명확히 파악할 수 있었고, 또한 코드 리뷰 과정에서 예외 상황들을 지속적으로 발굴하여 Green 단계를 완벽히 보완하고 정상 케이스 외 에지 케이스(Edge Case)까지 꼼꼼하게 검증할 수 있었습니다.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a1c2ae961_3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a1c2ae961_3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하지만 </a:t>
            </a:r>
            <a:r>
              <a:rPr b="1" lang="ko">
                <a:solidFill>
                  <a:schemeClr val="dk1"/>
                </a:solidFill>
              </a:rPr>
              <a:t>일부 아쉬운 점</a:t>
            </a:r>
            <a:r>
              <a:rPr lang="ko">
                <a:solidFill>
                  <a:schemeClr val="dk1"/>
                </a:solidFill>
              </a:rPr>
              <a:t>들이 있었는데,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초반 기능 구현에 몰입하다 보니, 테스트 코드가 먼저 작성되지 못하고 기능이 완성된 후에 추가된 경우가 있었습니다. 다행히 팀원들의 코드 리뷰 덕분에 놓친 에지 케이스들을 보완해 나갈 수 있었지만, 'Test First' 원칙을 완벽하게 고수하지 못한 부분이 있었습니다.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또한, 개발 후반부로 갈수록 새로운 기능을 추가하는 데 집중하느라 TDD 사이클의 마지막 단계인 리팩토링을 지속적으로 이어가지 못했던 점이 아쉬움으로 남습니다.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a1c2ae961_3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a1c2ae961_3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 사례를 통해 배운 것은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기능 단위로 커밋을 정교하게 분리하면 변경 이력 추적이 쉬워질 뿐만 아니라 코드 리뷰의 품질이 향상된다는 것을 실제 경험했고,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테스트 코드는 단순히 단순 검증용이 아니라 '설계를 검증하는 도구'라는 점을 깨달아, 앞으로 현업에서도 Test First 원칙을 더욱 강화해야겠다고 다짐했습니다.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마지막으로 리팩토링은 점점 귀찮아지고 놓치기 쉬워  'Refactoring Check List' 같은 정형화된 툴을 만들어 개발 습관으로 정착시켜야 한다는 필요성을 배웠습니다.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a1c2ae961_3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a1c2ae961_3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두 번째 우수 사례는 객체지향 SOLID 원칙 중 하나인 </a:t>
            </a:r>
            <a:r>
              <a:rPr b="1" lang="ko">
                <a:solidFill>
                  <a:schemeClr val="dk1"/>
                </a:solidFill>
              </a:rPr>
              <a:t>SRP(단일 책임 원칙)를 적용해 Checker와 Executor의 역할을 명확히 분리</a:t>
            </a:r>
            <a:r>
              <a:rPr lang="ko">
                <a:solidFill>
                  <a:schemeClr val="dk1"/>
                </a:solidFill>
              </a:rPr>
              <a:t>한 리팩토링 사례입니다.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각 개발자들이 맡은 모듈의 기능에 초점을 맞춰 개발을 진행했고, 그러다보니 구체적인 모듈별 기능에 대해서는 알지 못했습니다.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이러한 상황에서 코드 리뷰 중 Executor가 실행해보지 않아도 알 수 있는 오류(예: 미선언 변수 사용 등)까지 런타임에서 처리하고 있었고, Checker도 유사한 분석을 한다는 것이 확인되어 두 모듈간 책임 경계가 모호하여 모듈 간 정적 분석 역할이 중복된다는걸 알 수 있었습니다.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a1c2ae961_3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a1c2ae961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이를 해결하기 위해 각 모듈의 책임을 명확히 하기위해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우선 </a:t>
            </a:r>
            <a:r>
              <a:rPr b="1" lang="ko">
                <a:solidFill>
                  <a:schemeClr val="dk1"/>
                </a:solidFill>
              </a:rPr>
              <a:t>Checker의 기능</a:t>
            </a:r>
            <a:r>
              <a:rPr lang="ko">
                <a:solidFill>
                  <a:schemeClr val="dk1"/>
                </a:solidFill>
              </a:rPr>
              <a:t>을 강화하여 정적 단계에서 잡아낼 수 있는 규칙들을 추가하여, 미선언 변수를 읽거나, 미선언 변수에 값을 할당하는 정적 오류들을 Checker에서 완벽히 수집하도록 보완했습니다.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반면 </a:t>
            </a:r>
            <a:r>
              <a:rPr b="1" lang="ko">
                <a:solidFill>
                  <a:schemeClr val="dk1"/>
                </a:solidFill>
              </a:rPr>
              <a:t>Executor</a:t>
            </a:r>
            <a:r>
              <a:rPr lang="ko">
                <a:solidFill>
                  <a:schemeClr val="dk1"/>
                </a:solidFill>
              </a:rPr>
              <a:t>에서는 불필요해진 정적 분석 코드를 걷어내고 런타임 실행 책임만 남겼는데,  예외 상황에 대비하여 기존에 정의되어 있던 런타임 에러 로직은 방어적 어설션(Assertion) 코드로 명시하였고,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 결과 각 모듈의 책임을 명확하게 분리할 수 있었습니다.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a1c2ae961_3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ea1c2ae961_3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a1c2ae961_3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ea1c2ae961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이러한 리팩토링을 통해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SRP를 통해 모듈의 역할을 깔끔하게 쪼개어 코드의 안정성과 유지보수성을 확보할 수 있었습니다.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또한 리팩토링 과정에서 구현하지 못한 기능들에 대해 한번 더 확인하며, Tesf First가 중요하다는 것을 다시한번 상기하였고, 팀원 간의 활발한 코드 리뷰가 단순히 버그를 찾아내는 수준을 넘어, 설계를 발전시킬 수 있는 기회가 된다는 것을 배울 수 있는 계기가 되었습니다.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a227dcfa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a227dcfa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"첫 번째 시연으로 '프롬프트 모드'입니다. 터미널 창을 통해 사용자가 자연어로 명령어를 입력하고, 인터프리터가 이를 실시간으로 해석하여 실행하는 과정을 보여드리겠습니다."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a227dcfa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ea227dcfa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"두 번째는 '파일 모드' 시연입니다. 미리 작성된 소스 코드 파일(.factory)을 불러와서, 전체 스크립트를 한 번에 파싱하고 안정적으로 구동하는 모습을 확인하실 수 있습니다."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a227dcfa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a227dcfa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"세 번째는 '디버그 모드'입니다. 개발자가 코드의 오류를 쉽게 찾을 수 있도록 명령어 도움말(help) 기능과 함께, 실행 과정을 단계별로 추적할 수 있는 툴을 지원합니다."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a227dcfa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ea227dcfa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"네 번째로 가장 기본적인 변수 선언, 값 할당, 그리고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ko">
                <a:solidFill>
                  <a:schemeClr val="dk1"/>
                </a:solidFill>
              </a:rPr>
              <a:t> 문을 통한 출력 기능입니다. 전역 및 로컬 스코프가 정확하게 분리되어 값이 저장되는 것을 볼 수 있습니다." 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a227dcfa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ea227dcfa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"다섯 번째 시연은 사칙연산과 더불어 가 가우, 동등 비교(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ko">
                <a:solidFill>
                  <a:schemeClr val="dk1"/>
                </a:solidFill>
              </a:rPr>
              <a:t>,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!=</a:t>
            </a:r>
            <a:r>
              <a:rPr lang="ko">
                <a:solidFill>
                  <a:schemeClr val="dk1"/>
                </a:solidFill>
              </a:rPr>
              <a:t>) 등의 비교 연산입니다. 문자열의 경우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ko">
                <a:solidFill>
                  <a:schemeClr val="dk1"/>
                </a:solidFill>
              </a:rPr>
              <a:t> 연산자를 통한 결합과 비교까지 완벽하게 지원합니다." 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a227dcfa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ea227dcfa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"여섯 번째로 제어문 처리입니다.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if-else</a:t>
            </a:r>
            <a:r>
              <a:rPr lang="ko">
                <a:solidFill>
                  <a:schemeClr val="dk1"/>
                </a:solidFill>
              </a:rPr>
              <a:t> 조건문과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ko">
                <a:solidFill>
                  <a:schemeClr val="dk1"/>
                </a:solidFill>
              </a:rPr>
              <a:t> 반복문이 지정된 조건에 따라 루프를 돌며 동적으로 로직을 제어하는 제어 흐름을 시연합니다." 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a227dcfa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ea227dcfa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"일곱 번째는 중괄호(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{}</a:t>
            </a:r>
            <a:r>
              <a:rPr lang="ko">
                <a:solidFill>
                  <a:schemeClr val="dk1"/>
                </a:solidFill>
              </a:rPr>
              <a:t>) 기준의 블록 스코프 검증과 런타임 에러 처리입니다. 타당하지 않은 변수 참조나 0으로 나누기 같은 오류를 사전에 감지하여 안전하게 리포팅합니다."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a227dcfa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ea227dcfa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"여덟 번째는 성능 최적화를 위한 '상수 폴딩'과 '정적 배열' 기능입니다. 빌드 시 상수를 미리 계산해 둠으로써 실행 속도를 약 30%에서 45%까지 끌어올렸습니다." 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a227dcfa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ea227dcfa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"아홉 번째로 함수 선언 및 호출, 그리고 재귀 함수 시연입니다. 팩토리얼이나 피보나치 같은 재귀 로직에서 스택 프레임과 메모리가 안정적으로 관리되는 모습을 보여줍니다."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a227dcfa7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a227dcfa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"마지막 시연으로 '정적 바인딩'입니다. 실행 전 단계에서 Checker가 미선언 변수나 잘못된 스코프 접근을 미리 잡아내어 런타임 안정성을 보장하는 핵심 최적화 기능입니다." 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835a77276_2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e835a77276_2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a227dcfa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ea227dcfa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a1c2ae961_3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ea1c2ae961_3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9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5.png"/><Relationship Id="rId4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kwonsunbin/CodeFabInterpreter/blob/docs/bp-analysis/docs/BP_ANALYSIS.md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gif"/><Relationship Id="rId4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4.gif"/><Relationship Id="rId4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gif"/><Relationship Id="rId4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6.png"/><Relationship Id="rId4" Type="http://schemas.openxmlformats.org/officeDocument/2006/relationships/image" Target="../media/image36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Relationship Id="rId4" Type="http://schemas.openxmlformats.org/officeDocument/2006/relationships/image" Target="../media/image42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Relationship Id="rId4" Type="http://schemas.openxmlformats.org/officeDocument/2006/relationships/image" Target="../media/image37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31.gif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gif"/><Relationship Id="rId4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Relationship Id="rId4" Type="http://schemas.openxmlformats.org/officeDocument/2006/relationships/image" Target="../media/image35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13275" y="333425"/>
            <a:ext cx="7623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0">
                <a:solidFill>
                  <a:srgbClr val="191919"/>
                </a:solidFill>
              </a:rPr>
              <a:t>CodeFab </a:t>
            </a:r>
            <a:endParaRPr b="1" sz="6000">
              <a:solidFill>
                <a:srgbClr val="19191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0">
                <a:solidFill>
                  <a:srgbClr val="191919"/>
                </a:solidFill>
              </a:rPr>
              <a:t>Interpreter 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23071" l="5472" r="2566" t="0"/>
          <a:stretch/>
        </p:blipFill>
        <p:spPr>
          <a:xfrm>
            <a:off x="3994125" y="2356200"/>
            <a:ext cx="4983649" cy="25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658625" y="2356200"/>
            <a:ext cx="631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2"/>
                </a:solidFill>
              </a:rPr>
              <a:t>발표자: 권순빈님, 김서현님, 김평강님, 전진님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365650" y="233125"/>
            <a:ext cx="487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Table of contents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724600" y="1325900"/>
            <a:ext cx="94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3000">
                <a:solidFill>
                  <a:srgbClr val="191919"/>
                </a:solidFill>
              </a:rPr>
              <a:t>01</a:t>
            </a:r>
            <a:endParaRPr b="1" sz="3000">
              <a:solidFill>
                <a:srgbClr val="191919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977675" y="1325900"/>
            <a:ext cx="94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02</a:t>
            </a:r>
            <a:endParaRPr b="1" sz="3000">
              <a:solidFill>
                <a:srgbClr val="191919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6917200" y="1325900"/>
            <a:ext cx="94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03</a:t>
            </a:r>
            <a:endParaRPr b="1" sz="3000">
              <a:solidFill>
                <a:srgbClr val="191919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24600" y="2971825"/>
            <a:ext cx="94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04</a:t>
            </a:r>
            <a:endParaRPr b="1" sz="3000">
              <a:solidFill>
                <a:srgbClr val="191919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977675" y="2971825"/>
            <a:ext cx="94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05</a:t>
            </a:r>
            <a:endParaRPr b="1" sz="3000">
              <a:solidFill>
                <a:srgbClr val="191919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724600" y="1972400"/>
            <a:ext cx="21792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91919"/>
                </a:solidFill>
              </a:rPr>
              <a:t>프로젝트 진행/협업 방식</a:t>
            </a:r>
            <a:endParaRPr b="1" sz="1800">
              <a:solidFill>
                <a:srgbClr val="191919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977675" y="1972400"/>
            <a:ext cx="217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91919"/>
                </a:solidFill>
              </a:rPr>
              <a:t>팀원별 역할</a:t>
            </a:r>
            <a:endParaRPr b="1" sz="1800">
              <a:solidFill>
                <a:srgbClr val="191919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6917200" y="1972400"/>
            <a:ext cx="217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91919"/>
                </a:solidFill>
              </a:rPr>
              <a:t>프로젝트 구조/기능</a:t>
            </a:r>
            <a:endParaRPr b="1" sz="1800">
              <a:solidFill>
                <a:srgbClr val="191919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724600" y="3526875"/>
            <a:ext cx="332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91919"/>
                </a:solidFill>
              </a:rPr>
              <a:t>BP 사례들</a:t>
            </a:r>
            <a:endParaRPr b="1" sz="1800">
              <a:solidFill>
                <a:srgbClr val="191919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977675" y="3526875"/>
            <a:ext cx="217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91919"/>
                </a:solidFill>
              </a:rPr>
              <a:t>프로젝트 시연</a:t>
            </a:r>
            <a:endParaRPr b="1" sz="1800">
              <a:solidFill>
                <a:srgbClr val="191919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6917200" y="2971825"/>
            <a:ext cx="94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06</a:t>
            </a:r>
            <a:endParaRPr b="1" sz="3000">
              <a:solidFill>
                <a:srgbClr val="191919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6964800" y="3526875"/>
            <a:ext cx="217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91919"/>
                </a:solidFill>
              </a:rPr>
              <a:t>소감</a:t>
            </a:r>
            <a:endParaRPr b="1" sz="1800">
              <a:solidFill>
                <a:srgbClr val="19191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330350" y="260938"/>
            <a:ext cx="542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프로젝트 진행 방식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450" y="1946952"/>
            <a:ext cx="7105081" cy="217503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1330638" y="1117400"/>
            <a:ext cx="6482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222830"/>
                </a:solidFill>
              </a:rPr>
              <a:t>* </a:t>
            </a:r>
            <a:r>
              <a:rPr b="1" lang="ko" sz="1500">
                <a:solidFill>
                  <a:srgbClr val="222830"/>
                </a:solidFill>
              </a:rPr>
              <a:t>CodeFab Interpreter</a:t>
            </a:r>
            <a:r>
              <a:rPr lang="ko" sz="1500">
                <a:solidFill>
                  <a:srgbClr val="222830"/>
                </a:solidFill>
              </a:rPr>
              <a:t>: 직접 정의한 커스텀 언어를 실행하는 인터프리터</a:t>
            </a:r>
            <a:r>
              <a:rPr lang="ko" sz="900">
                <a:solidFill>
                  <a:schemeClr val="dk1"/>
                </a:solidFill>
              </a:rPr>
              <a:t> 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/>
        </p:nvSpPr>
        <p:spPr>
          <a:xfrm>
            <a:off x="360400" y="317525"/>
            <a:ext cx="542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협업</a:t>
            </a:r>
            <a:r>
              <a:rPr b="1" lang="ko" sz="3000">
                <a:solidFill>
                  <a:srgbClr val="191919"/>
                </a:solidFill>
              </a:rPr>
              <a:t> 방식</a:t>
            </a:r>
            <a:endParaRPr b="1" sz="3000">
              <a:solidFill>
                <a:srgbClr val="191919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586225" y="1051725"/>
            <a:ext cx="16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브랜치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771825" y="1539625"/>
            <a:ext cx="6525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 sz="1350">
                <a:solidFill>
                  <a:srgbClr val="222830"/>
                </a:solidFill>
              </a:rPr>
              <a:t>main은 항상 동작 가능한 상태, Test Case 모두 PASS 로 유지</a:t>
            </a:r>
            <a:endParaRPr sz="1350">
              <a:solidFill>
                <a:srgbClr val="22283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 sz="1350">
                <a:solidFill>
                  <a:srgbClr val="222830"/>
                </a:solidFill>
              </a:rPr>
              <a:t>기능별, 토픽별로 branch 생성 (feat/*, refactor/*, fix/*)</a:t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6685" y="2350625"/>
            <a:ext cx="2290215" cy="265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2800" y="2436850"/>
            <a:ext cx="2657900" cy="2479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/>
          <p:nvPr/>
        </p:nvSpPr>
        <p:spPr>
          <a:xfrm>
            <a:off x="1700903" y="3821350"/>
            <a:ext cx="515700" cy="1247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4869550" y="3554175"/>
            <a:ext cx="596100" cy="136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/>
        </p:nvSpPr>
        <p:spPr>
          <a:xfrm>
            <a:off x="360400" y="317525"/>
            <a:ext cx="542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협업 방식</a:t>
            </a:r>
            <a:endParaRPr b="1" sz="3000">
              <a:solidFill>
                <a:srgbClr val="191919"/>
              </a:solidFill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597189" y="1177439"/>
            <a:ext cx="16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커밋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701689" y="1645214"/>
            <a:ext cx="652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 sz="1350">
                <a:solidFill>
                  <a:srgbClr val="222830"/>
                </a:solidFill>
              </a:rPr>
              <a:t>마커형 Commit message 로 커밋 내용 명시</a:t>
            </a:r>
            <a:endParaRPr sz="1350">
              <a:solidFill>
                <a:srgbClr val="222830"/>
              </a:solidFill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7400" y="2726627"/>
            <a:ext cx="4429526" cy="1856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5350" y="2160905"/>
            <a:ext cx="3864232" cy="279645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1025000" y="2216225"/>
            <a:ext cx="471000" cy="274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/>
        </p:nvSpPr>
        <p:spPr>
          <a:xfrm>
            <a:off x="360400" y="317525"/>
            <a:ext cx="542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협업 방식</a:t>
            </a:r>
            <a:endParaRPr b="1" sz="3000">
              <a:solidFill>
                <a:srgbClr val="191919"/>
              </a:solidFill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509489" y="964014"/>
            <a:ext cx="16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통합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613989" y="1420111"/>
            <a:ext cx="65259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 sz="1350">
                <a:solidFill>
                  <a:srgbClr val="222830"/>
                </a:solidFill>
              </a:rPr>
              <a:t>기능단위로 추가/수정/Refactoring이 완료 되면 PR</a:t>
            </a:r>
            <a:endParaRPr sz="1350">
              <a:solidFill>
                <a:srgbClr val="22283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 sz="1350">
                <a:solidFill>
                  <a:srgbClr val="222830"/>
                </a:solidFill>
              </a:rPr>
              <a:t>PR 제목에 마커 추가, </a:t>
            </a:r>
            <a:r>
              <a:rPr lang="ko" sz="1350">
                <a:solidFill>
                  <a:srgbClr val="222830"/>
                </a:solidFill>
              </a:rPr>
              <a:t>전원 코드리뷰 Approve 받은 후 Merge</a:t>
            </a:r>
            <a:endParaRPr sz="1350">
              <a:solidFill>
                <a:srgbClr val="222830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830"/>
              </a:buClr>
              <a:buSzPts val="1350"/>
              <a:buChar char="-"/>
            </a:pPr>
            <a:r>
              <a:rPr lang="ko" sz="1350">
                <a:solidFill>
                  <a:srgbClr val="222830"/>
                </a:solidFill>
              </a:rPr>
              <a:t>merge 전</a:t>
            </a:r>
            <a:r>
              <a:rPr lang="ko" sz="1350">
                <a:solidFill>
                  <a:srgbClr val="222830"/>
                </a:solidFill>
              </a:rPr>
              <a:t>에 </a:t>
            </a:r>
            <a:r>
              <a:rPr lang="ko" sz="1350">
                <a:solidFill>
                  <a:srgbClr val="222830"/>
                </a:solidFill>
              </a:rPr>
              <a:t>Main branch 로 </a:t>
            </a:r>
            <a:r>
              <a:rPr lang="ko" sz="1350">
                <a:solidFill>
                  <a:srgbClr val="222830"/>
                </a:solidFill>
              </a:rPr>
              <a:t>pull 받아 conflict 최소화</a:t>
            </a:r>
            <a:endParaRPr sz="1350">
              <a:solidFill>
                <a:srgbClr val="222830"/>
              </a:solidFill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25" y="3640300"/>
            <a:ext cx="8856751" cy="48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779725"/>
            <a:ext cx="8839201" cy="860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788" y="4120625"/>
            <a:ext cx="8839199" cy="45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/>
        </p:nvSpPr>
        <p:spPr>
          <a:xfrm>
            <a:off x="360400" y="317525"/>
            <a:ext cx="542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협업 방식 - 1</a:t>
            </a:r>
            <a:endParaRPr b="1" sz="3000">
              <a:solidFill>
                <a:srgbClr val="191919"/>
              </a:solidFill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325" y="1151925"/>
            <a:ext cx="3891233" cy="38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5508" y="781725"/>
            <a:ext cx="4523328" cy="200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5500" y="2987930"/>
            <a:ext cx="4493776" cy="203868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5543350" y="2987925"/>
            <a:ext cx="3173700" cy="68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/>
        </p:nvSpPr>
        <p:spPr>
          <a:xfrm>
            <a:off x="360400" y="317525"/>
            <a:ext cx="542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협업 방식</a:t>
            </a:r>
            <a:r>
              <a:rPr b="1" lang="ko" sz="3000">
                <a:solidFill>
                  <a:srgbClr val="191919"/>
                </a:solidFill>
              </a:rPr>
              <a:t> - 2</a:t>
            </a:r>
            <a:endParaRPr b="1" sz="3000">
              <a:solidFill>
                <a:srgbClr val="191919"/>
              </a:solidFill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401" y="1146199"/>
            <a:ext cx="4659501" cy="105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1150" y="1993000"/>
            <a:ext cx="5423399" cy="2897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/>
        </p:nvSpPr>
        <p:spPr>
          <a:xfrm>
            <a:off x="360400" y="317525"/>
            <a:ext cx="542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역할 분담</a:t>
            </a:r>
            <a:endParaRPr/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81325"/>
            <a:ext cx="8839200" cy="207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457803" y="964025"/>
            <a:ext cx="208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ko">
                <a:solidFill>
                  <a:schemeClr val="dk1"/>
                </a:solidFill>
              </a:rPr>
              <a:t>핵심 구성요소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457803" y="3877950"/>
            <a:ext cx="201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ko">
                <a:solidFill>
                  <a:schemeClr val="dk1"/>
                </a:solidFill>
              </a:rPr>
              <a:t>공통</a:t>
            </a:r>
            <a:r>
              <a:rPr b="1" lang="ko">
                <a:solidFill>
                  <a:schemeClr val="dk1"/>
                </a:solidFill>
              </a:rPr>
              <a:t> 구성요소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8900" y="4407864"/>
            <a:ext cx="7295367" cy="56056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 txBox="1"/>
          <p:nvPr/>
        </p:nvSpPr>
        <p:spPr>
          <a:xfrm>
            <a:off x="7279825" y="1700875"/>
            <a:ext cx="178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2"/>
                </a:solidFill>
                <a:highlight>
                  <a:schemeClr val="accent6"/>
                </a:highlight>
              </a:rPr>
              <a:t>권순빈님 &amp; 김평강님</a:t>
            </a:r>
            <a:endParaRPr b="1">
              <a:solidFill>
                <a:schemeClr val="dk2"/>
              </a:solidFill>
              <a:highlight>
                <a:schemeClr val="accent6"/>
              </a:highlight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7206900" y="2420988"/>
            <a:ext cx="178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2"/>
                </a:solidFill>
                <a:highlight>
                  <a:schemeClr val="accent6"/>
                </a:highlight>
              </a:rPr>
              <a:t>전진</a:t>
            </a:r>
            <a:r>
              <a:rPr b="1" lang="ko">
                <a:solidFill>
                  <a:schemeClr val="dk2"/>
                </a:solidFill>
                <a:highlight>
                  <a:schemeClr val="accent6"/>
                </a:highlight>
              </a:rPr>
              <a:t>님</a:t>
            </a:r>
            <a:endParaRPr b="1">
              <a:solidFill>
                <a:schemeClr val="dk2"/>
              </a:solidFill>
              <a:highlight>
                <a:schemeClr val="accent6"/>
              </a:highlight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7206900" y="3141113"/>
            <a:ext cx="178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2"/>
                </a:solidFill>
                <a:highlight>
                  <a:schemeClr val="accent6"/>
                </a:highlight>
              </a:rPr>
              <a:t>김서현</a:t>
            </a:r>
            <a:r>
              <a:rPr b="1" lang="ko">
                <a:solidFill>
                  <a:schemeClr val="dk2"/>
                </a:solidFill>
                <a:highlight>
                  <a:schemeClr val="accent6"/>
                </a:highlight>
              </a:rPr>
              <a:t>님 &amp; </a:t>
            </a:r>
            <a:r>
              <a:rPr b="1" lang="ko">
                <a:solidFill>
                  <a:schemeClr val="dk2"/>
                </a:solidFill>
                <a:highlight>
                  <a:schemeClr val="accent6"/>
                </a:highlight>
              </a:rPr>
              <a:t>권순빈님</a:t>
            </a:r>
            <a:endParaRPr b="1">
              <a:solidFill>
                <a:schemeClr val="dk2"/>
              </a:solidFill>
              <a:highlight>
                <a:schemeClr val="accent6"/>
              </a:highlight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2075200" y="3877950"/>
            <a:ext cx="9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2"/>
                </a:solidFill>
                <a:highlight>
                  <a:schemeClr val="accent6"/>
                </a:highlight>
              </a:rPr>
              <a:t>모두</a:t>
            </a:r>
            <a:endParaRPr b="1">
              <a:solidFill>
                <a:schemeClr val="dk2"/>
              </a:solidFill>
              <a:highlight>
                <a:schemeClr val="accent6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/>
        </p:nvSpPr>
        <p:spPr>
          <a:xfrm>
            <a:off x="360400" y="317525"/>
            <a:ext cx="542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프로젝트 구조</a:t>
            </a:r>
            <a:endParaRPr/>
          </a:p>
        </p:txBody>
      </p:sp>
      <p:pic>
        <p:nvPicPr>
          <p:cNvPr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6425"/>
            <a:ext cx="8804449" cy="387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/>
        </p:nvSpPr>
        <p:spPr>
          <a:xfrm>
            <a:off x="360400" y="317525"/>
            <a:ext cx="542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구현한 기능들</a:t>
            </a:r>
            <a:endParaRPr/>
          </a:p>
        </p:txBody>
      </p:sp>
      <p:sp>
        <p:nvSpPr>
          <p:cNvPr id="159" name="Google Shape;159;p24"/>
          <p:cNvSpPr txBox="1"/>
          <p:nvPr/>
        </p:nvSpPr>
        <p:spPr>
          <a:xfrm>
            <a:off x="457800" y="964025"/>
            <a:ext cx="291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ko">
                <a:solidFill>
                  <a:schemeClr val="dk1"/>
                </a:solidFill>
              </a:rPr>
              <a:t>필수 요구사항</a:t>
            </a:r>
            <a:endParaRPr b="1">
              <a:solidFill>
                <a:schemeClr val="dk1"/>
              </a:solidFill>
            </a:endParaRPr>
          </a:p>
        </p:txBody>
      </p:sp>
      <p:graphicFrame>
        <p:nvGraphicFramePr>
          <p:cNvPr id="160" name="Google Shape;160;p24"/>
          <p:cNvGraphicFramePr/>
          <p:nvPr/>
        </p:nvGraphicFramePr>
        <p:xfrm>
          <a:off x="850450" y="146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{6BC2F35D-3216-4F80-968A-3E8D3DFD23ED}</a:tableStyleId>
              </a:tblPr>
              <a:tblGrid>
                <a:gridCol w="1499050"/>
                <a:gridCol w="573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영역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항목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1058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언어 기능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- 기본 문법 지원 (변수 선언/할당/출력, 산술 연산, 비교 연산, 논리 연산)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- 조건문(if/else), 반복문(for), 블록 스코프({}), 숫자/문자열/불리언 리터럴,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주석(//), </a:t>
                      </a:r>
                      <a:r>
                        <a:rPr lang="ko"/>
                        <a:t>정적 배열, 함수 선언/호출/return 처리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- </a:t>
                      </a:r>
                      <a:r>
                        <a:rPr lang="ko"/>
                        <a:t>재귀 함수/함수에서 전역 변수 참조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- 전역/로컬 변수 저장소 관리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의미 분석 및 최적화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- </a:t>
                      </a:r>
                      <a:r>
                        <a:rPr lang="ko"/>
                        <a:t>변수 중복선언, 자기 참조, 함수 오류/배열 정적 검사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- 정적 바인딩, 상수 폴딩으로 최적화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런타임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- 타입 불일치, 0 으로 나누기, 배열 범위, 비배열 등 런타임 오류 검출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- 최적화 결과 활용, Test Double 로 검증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쉘·디버거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- 프롬프트 모드, 파일 모드, 디버그 모드 지원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/>
        </p:nvSpPr>
        <p:spPr>
          <a:xfrm>
            <a:off x="360400" y="317525"/>
            <a:ext cx="542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BP 사례</a:t>
            </a:r>
            <a:endParaRPr b="1" sz="3000">
              <a:solidFill>
                <a:srgbClr val="191919"/>
              </a:solidFill>
            </a:endParaRPr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2000"/>
              <a:t>Git Repo URL : </a:t>
            </a:r>
            <a:r>
              <a:rPr lang="ko" sz="1500" u="sng">
                <a:solidFill>
                  <a:schemeClr val="hlink"/>
                </a:solidFill>
                <a:hlinkClick r:id="rId3"/>
              </a:rPr>
              <a:t>https://github.com/kwonsunbin/CodeFabInterpreter/blob/docs/bp-analysis/docs/BP_ANALYSIS.md</a:t>
            </a:r>
            <a:br>
              <a:rPr lang="ko" sz="1600">
                <a:solidFill>
                  <a:schemeClr val="dk1"/>
                </a:solidFill>
              </a:rPr>
            </a:br>
            <a:r>
              <a:rPr lang="ko" sz="2000"/>
              <a:t> 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/>
        </p:nvSpPr>
        <p:spPr>
          <a:xfrm>
            <a:off x="298275" y="197600"/>
            <a:ext cx="8512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191919"/>
                </a:solidFill>
              </a:rPr>
              <a:t>BP 사례1 -</a:t>
            </a:r>
            <a:r>
              <a:rPr b="1" lang="ko" sz="2500">
                <a:solidFill>
                  <a:srgbClr val="191919"/>
                </a:solidFill>
              </a:rPr>
              <a:t> </a:t>
            </a:r>
            <a:r>
              <a:rPr b="1" lang="ko" sz="1900">
                <a:solidFill>
                  <a:srgbClr val="191919"/>
                </a:solidFill>
              </a:rPr>
              <a:t>[TDD] Red - Green - Refactoring Cycle 적용하여 Lexer 구현 </a:t>
            </a:r>
            <a:endParaRPr sz="300"/>
          </a:p>
        </p:txBody>
      </p:sp>
      <p:sp>
        <p:nvSpPr>
          <p:cNvPr id="172" name="Google Shape;172;p26"/>
          <p:cNvSpPr txBox="1"/>
          <p:nvPr/>
        </p:nvSpPr>
        <p:spPr>
          <a:xfrm>
            <a:off x="298275" y="1570600"/>
            <a:ext cx="8240100" cy="3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1. </a:t>
            </a:r>
            <a:r>
              <a:rPr b="1" lang="ko" sz="1200"/>
              <a:t>잘한 점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/>
              <a:t>. Commit 단위를 잘게 쪼개 어느 시점에 무엇이 동작하기 시작했는지 이력이 명확하게 구분됨</a:t>
            </a:r>
            <a:endParaRPr b="1"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/>
              <a:t>. Review 를 통해 발생할 수 있는 Case 추가하여 Green 단계 보완</a:t>
            </a:r>
            <a:endParaRPr b="1"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/>
              <a:t>. Green 단계의 일정 Commit 갯수가 채워진 후 Refactoring 진행</a:t>
            </a:r>
            <a:endParaRPr b="1"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/>
              <a:t>. 정상 Case외 Exception / Edge Case에 대한 Test 진행 </a:t>
            </a:r>
            <a:endParaRPr b="1" sz="1100"/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750" y="2519750"/>
            <a:ext cx="5128600" cy="184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6"/>
          <p:cNvSpPr txBox="1"/>
          <p:nvPr/>
        </p:nvSpPr>
        <p:spPr>
          <a:xfrm>
            <a:off x="298275" y="845550"/>
            <a:ext cx="804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0. TDD 적용 방식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. Red (Commit X) → Green (Commit O) → Refactoring (Commit O) → PR 및 팀원 Code Review</a:t>
            </a:r>
            <a:endParaRPr b="1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/>
        </p:nvSpPr>
        <p:spPr>
          <a:xfrm>
            <a:off x="298275" y="807613"/>
            <a:ext cx="61329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2. 아쉬운 점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 . </a:t>
            </a:r>
            <a:r>
              <a:rPr b="1" lang="ko" sz="1200"/>
              <a:t>일부 기능에 대한</a:t>
            </a:r>
            <a:r>
              <a:rPr b="1" lang="ko" sz="1200"/>
              <a:t> Test가 이미 구현된 이후에 추가됨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→ TDD 상 구현 전 Test Case로 추가되었다면 좋았겠지만, Code Review를 통해 보완됨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 . Refactoring 단계가 지속적으로 수행되지 않음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→ 추후 기능 구현 및 Code Review를 통한 Refactoring 진행 이력은 있으나,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     TDD 단계에서 일정 Commit 이후에는 별도 Refactoring 과정이 없음</a:t>
            </a:r>
            <a:endParaRPr b="1" sz="1200"/>
          </a:p>
        </p:txBody>
      </p:sp>
      <p:sp>
        <p:nvSpPr>
          <p:cNvPr id="180" name="Google Shape;180;p27"/>
          <p:cNvSpPr txBox="1"/>
          <p:nvPr/>
        </p:nvSpPr>
        <p:spPr>
          <a:xfrm>
            <a:off x="298275" y="197600"/>
            <a:ext cx="8512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191919"/>
                </a:solidFill>
              </a:rPr>
              <a:t>BP 사례1 -</a:t>
            </a:r>
            <a:r>
              <a:rPr b="1" lang="ko" sz="2500">
                <a:solidFill>
                  <a:srgbClr val="191919"/>
                </a:solidFill>
              </a:rPr>
              <a:t> </a:t>
            </a:r>
            <a:r>
              <a:rPr b="1" lang="ko" sz="1900">
                <a:solidFill>
                  <a:srgbClr val="191919"/>
                </a:solidFill>
              </a:rPr>
              <a:t>[TDD] Red - Green - Refactoring Cycle 적용하여 Lexer 구현 </a:t>
            </a:r>
            <a:endParaRPr sz="300"/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399" y="1820475"/>
            <a:ext cx="5391449" cy="22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/>
        </p:nvSpPr>
        <p:spPr>
          <a:xfrm>
            <a:off x="298275" y="197600"/>
            <a:ext cx="8512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191919"/>
                </a:solidFill>
              </a:rPr>
              <a:t>BP 사례1 -</a:t>
            </a:r>
            <a:r>
              <a:rPr b="1" lang="ko" sz="2500">
                <a:solidFill>
                  <a:srgbClr val="191919"/>
                </a:solidFill>
              </a:rPr>
              <a:t> </a:t>
            </a:r>
            <a:r>
              <a:rPr b="1" lang="ko" sz="1900">
                <a:solidFill>
                  <a:srgbClr val="191919"/>
                </a:solidFill>
              </a:rPr>
              <a:t>[TDD] Red - Green - Refactoring Cycle 적용하여 Lexer 구현 </a:t>
            </a:r>
            <a:endParaRPr sz="300"/>
          </a:p>
        </p:txBody>
      </p:sp>
      <p:pic>
        <p:nvPicPr>
          <p:cNvPr id="187" name="Google Shape;1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650" y="700000"/>
            <a:ext cx="5400525" cy="252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8"/>
          <p:cNvSpPr txBox="1"/>
          <p:nvPr/>
        </p:nvSpPr>
        <p:spPr>
          <a:xfrm>
            <a:off x="298275" y="3333926"/>
            <a:ext cx="824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3</a:t>
            </a:r>
            <a:r>
              <a:rPr b="1" lang="ko" sz="1200"/>
              <a:t>. 배운 점</a:t>
            </a:r>
            <a:endParaRPr b="1" sz="1200"/>
          </a:p>
        </p:txBody>
      </p:sp>
      <p:sp>
        <p:nvSpPr>
          <p:cNvPr id="189" name="Google Shape;189;p28"/>
          <p:cNvSpPr txBox="1"/>
          <p:nvPr/>
        </p:nvSpPr>
        <p:spPr>
          <a:xfrm>
            <a:off x="298275" y="3666000"/>
            <a:ext cx="8046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 . </a:t>
            </a:r>
            <a:r>
              <a:rPr b="1" lang="ko" sz="1200"/>
              <a:t>기능 단위로 Commit을 분리하면 변경 이력을 추적하기 쉽고, Code Review의 품질도 향상된다는 것을 직접 경험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 . </a:t>
            </a:r>
            <a:r>
              <a:rPr b="1" lang="ko" sz="1200"/>
              <a:t>테스트 코드 작성 자체보다, 테스트를 먼저 작성하며 설계를 검증하는 과정이 중요성을 배움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  → Test First 원칙 강화하여 개발 진행 필요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 . 초기 Refactoring은 코드 품질 향상에 도움이 되었으나, 개발 후반부에는 기능 구현에 집중하면서 유지하지 못함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  → Refactoring Check List 활용하여 Refactoring을 습관화</a:t>
            </a:r>
            <a:endParaRPr b="1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/>
        </p:nvSpPr>
        <p:spPr>
          <a:xfrm>
            <a:off x="298275" y="197600"/>
            <a:ext cx="8512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191919"/>
                </a:solidFill>
              </a:rPr>
              <a:t>BP 사례2 -</a:t>
            </a:r>
            <a:r>
              <a:rPr b="1" lang="ko" sz="2500">
                <a:solidFill>
                  <a:srgbClr val="191919"/>
                </a:solidFill>
              </a:rPr>
              <a:t> </a:t>
            </a:r>
            <a:r>
              <a:rPr b="1" lang="ko" sz="1900">
                <a:solidFill>
                  <a:srgbClr val="191919"/>
                </a:solidFill>
              </a:rPr>
              <a:t>[Refactoring] SRP으로 Checker / Executor 역할 분리</a:t>
            </a:r>
            <a:endParaRPr sz="300"/>
          </a:p>
        </p:txBody>
      </p:sp>
      <p:sp>
        <p:nvSpPr>
          <p:cNvPr id="195" name="Google Shape;195;p29"/>
          <p:cNvSpPr txBox="1"/>
          <p:nvPr/>
        </p:nvSpPr>
        <p:spPr>
          <a:xfrm>
            <a:off x="298275" y="1941000"/>
            <a:ext cx="8046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2</a:t>
            </a:r>
            <a:r>
              <a:rPr b="1" lang="ko" sz="1200"/>
              <a:t>. Code Review</a:t>
            </a:r>
            <a:r>
              <a:rPr b="1" lang="ko" sz="1200"/>
              <a:t>를 통한 문제 인식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chemeClr val="dk1"/>
                </a:solidFill>
              </a:rPr>
              <a:t>. </a:t>
            </a:r>
            <a:r>
              <a:rPr b="1" lang="ko" sz="1200">
                <a:solidFill>
                  <a:srgbClr val="0000FF"/>
                </a:solidFill>
              </a:rPr>
              <a:t>Executor</a:t>
            </a:r>
            <a:r>
              <a:rPr b="1" lang="ko" sz="1200">
                <a:solidFill>
                  <a:schemeClr val="dk1"/>
                </a:solidFill>
              </a:rPr>
              <a:t>가 "실행해봐야 알 수 있는 오류"와 "실행 안 해도 알 수 있는 오류"를 구분 없이 모두 런타임에서 처리.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chemeClr val="dk1"/>
                </a:solidFill>
              </a:rPr>
              <a:t>. </a:t>
            </a:r>
            <a:r>
              <a:rPr b="1" lang="ko" sz="1200">
                <a:solidFill>
                  <a:srgbClr val="FF0000"/>
                </a:solidFill>
              </a:rPr>
              <a:t>Checker</a:t>
            </a:r>
            <a:r>
              <a:rPr b="1" lang="ko" sz="1200">
                <a:solidFill>
                  <a:schemeClr val="dk1"/>
                </a:solidFill>
              </a:rPr>
              <a:t>는 중복 선언, 자기참조만 검사하고 나머지는 모두 Executor에 위임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chemeClr val="dk1"/>
                </a:solidFill>
              </a:rPr>
              <a:t>. 미선언 변수처럼 정적으로 판단 가능한 오류도 코드를 실제로 실행해야 감지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chemeClr val="dk1"/>
                </a:solidFill>
              </a:rPr>
              <a:t>. </a:t>
            </a:r>
            <a:r>
              <a:rPr b="1" lang="ko" sz="1200">
                <a:solidFill>
                  <a:srgbClr val="FF0000"/>
                </a:solidFill>
              </a:rPr>
              <a:t>Checker</a:t>
            </a:r>
            <a:r>
              <a:rPr b="1" lang="ko" sz="1200">
                <a:solidFill>
                  <a:schemeClr val="dk1"/>
                </a:solidFill>
              </a:rPr>
              <a:t>와 </a:t>
            </a:r>
            <a:r>
              <a:rPr b="1" lang="ko" sz="1200">
                <a:solidFill>
                  <a:srgbClr val="0000FF"/>
                </a:solidFill>
              </a:rPr>
              <a:t>Executor</a:t>
            </a:r>
            <a:r>
              <a:rPr b="1" lang="ko" sz="1200">
                <a:solidFill>
                  <a:schemeClr val="dk1"/>
                </a:solidFill>
              </a:rPr>
              <a:t> 사이에 "어느 단계에서 무엇을 잡는다"는 경계가 불명확</a:t>
            </a:r>
            <a:endParaRPr b="1" sz="1200"/>
          </a:p>
        </p:txBody>
      </p:sp>
      <p:sp>
        <p:nvSpPr>
          <p:cNvPr id="196" name="Google Shape;196;p29"/>
          <p:cNvSpPr txBox="1"/>
          <p:nvPr/>
        </p:nvSpPr>
        <p:spPr>
          <a:xfrm>
            <a:off x="298275" y="878350"/>
            <a:ext cx="82401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1</a:t>
            </a:r>
            <a:r>
              <a:rPr b="1" lang="ko" sz="1200"/>
              <a:t>. </a:t>
            </a:r>
            <a:r>
              <a:rPr b="1" lang="ko" sz="1200"/>
              <a:t>기존 구조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 -. Checker : Parser</a:t>
            </a:r>
            <a:r>
              <a:rPr b="1" lang="ko" sz="1200"/>
              <a:t>를 통해 넘어온 Stat, Expr에 대한 </a:t>
            </a:r>
            <a:r>
              <a:rPr b="1" lang="ko" sz="1200">
                <a:solidFill>
                  <a:srgbClr val="FF0000"/>
                </a:solidFill>
              </a:rPr>
              <a:t>정적 분석</a:t>
            </a:r>
            <a:endParaRPr b="1" sz="1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 -. Executor : Parser / Checker 통과한 Stat, Expr에 대한 </a:t>
            </a:r>
            <a:r>
              <a:rPr b="1" lang="ko" sz="1200">
                <a:solidFill>
                  <a:srgbClr val="FF0000"/>
                </a:solidFill>
              </a:rPr>
              <a:t>정적분석</a:t>
            </a:r>
            <a:r>
              <a:rPr b="1" lang="ko" sz="1200"/>
              <a:t> + </a:t>
            </a:r>
            <a:r>
              <a:rPr b="1" lang="ko" sz="1200">
                <a:solidFill>
                  <a:srgbClr val="0000FF"/>
                </a:solidFill>
              </a:rPr>
              <a:t>런타임 분석</a:t>
            </a:r>
            <a:endParaRPr b="1" sz="1200">
              <a:solidFill>
                <a:srgbClr val="0000FF"/>
              </a:solidFill>
            </a:endParaRPr>
          </a:p>
        </p:txBody>
      </p:sp>
      <p:pic>
        <p:nvPicPr>
          <p:cNvPr id="197" name="Google Shape;19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510900"/>
            <a:ext cx="4484951" cy="150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8250" y="3510900"/>
            <a:ext cx="4206575" cy="150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/>
        </p:nvSpPr>
        <p:spPr>
          <a:xfrm>
            <a:off x="298275" y="197600"/>
            <a:ext cx="8512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191919"/>
                </a:solidFill>
              </a:rPr>
              <a:t>BP 사례2 -</a:t>
            </a:r>
            <a:r>
              <a:rPr b="1" lang="ko" sz="2500">
                <a:solidFill>
                  <a:srgbClr val="191919"/>
                </a:solidFill>
              </a:rPr>
              <a:t> </a:t>
            </a:r>
            <a:r>
              <a:rPr b="1" lang="ko" sz="1900">
                <a:solidFill>
                  <a:srgbClr val="191919"/>
                </a:solidFill>
              </a:rPr>
              <a:t>[Refactoring] SRP으로 Checker / Executor 역할 분리</a:t>
            </a:r>
            <a:endParaRPr sz="300"/>
          </a:p>
        </p:txBody>
      </p:sp>
      <p:sp>
        <p:nvSpPr>
          <p:cNvPr id="204" name="Google Shape;204;p30"/>
          <p:cNvSpPr txBox="1"/>
          <p:nvPr/>
        </p:nvSpPr>
        <p:spPr>
          <a:xfrm>
            <a:off x="298275" y="717305"/>
            <a:ext cx="804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3</a:t>
            </a:r>
            <a:r>
              <a:rPr b="1" lang="ko" sz="1200"/>
              <a:t> </a:t>
            </a:r>
            <a:r>
              <a:rPr b="1" lang="ko" sz="1200"/>
              <a:t>개선 내용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-.</a:t>
            </a:r>
            <a:r>
              <a:rPr b="1" lang="ko" sz="1200"/>
              <a:t> Checker에 Rule 3, 4 추가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 . Rule 3: 미선언 변수 읽기 (전방 참조, 블록 스코프 위반 포함)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 . Rule 4: 미선언 변수 할</a:t>
            </a:r>
            <a:r>
              <a:rPr b="1" lang="ko" sz="1200"/>
              <a:t>당</a:t>
            </a:r>
            <a:endParaRPr b="1" sz="1200"/>
          </a:p>
        </p:txBody>
      </p:sp>
      <p:pic>
        <p:nvPicPr>
          <p:cNvPr id="205" name="Google Shape;20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075" y="2010300"/>
            <a:ext cx="3937101" cy="3088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6375" y="2010305"/>
            <a:ext cx="4603325" cy="3088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/>
        </p:nvSpPr>
        <p:spPr>
          <a:xfrm>
            <a:off x="298275" y="197600"/>
            <a:ext cx="8512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191919"/>
                </a:solidFill>
              </a:rPr>
              <a:t>BP 사례2 -</a:t>
            </a:r>
            <a:r>
              <a:rPr b="1" lang="ko" sz="2500">
                <a:solidFill>
                  <a:srgbClr val="191919"/>
                </a:solidFill>
              </a:rPr>
              <a:t> </a:t>
            </a:r>
            <a:r>
              <a:rPr b="1" lang="ko" sz="1900">
                <a:solidFill>
                  <a:srgbClr val="191919"/>
                </a:solidFill>
              </a:rPr>
              <a:t>[Refactoring] SRP으로 Checker / Executor 역할 분리</a:t>
            </a:r>
            <a:endParaRPr sz="300"/>
          </a:p>
        </p:txBody>
      </p:sp>
      <p:sp>
        <p:nvSpPr>
          <p:cNvPr id="212" name="Google Shape;212;p31"/>
          <p:cNvSpPr txBox="1"/>
          <p:nvPr/>
        </p:nvSpPr>
        <p:spPr>
          <a:xfrm>
            <a:off x="298275" y="717300"/>
            <a:ext cx="804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3 개선 내용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-. Executor의 책임 재정의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 . Environment의 RuntimeError("Undefined variable")를 방어적 assertion으로 명시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 . 정상 파이프라인에서는 도달 불가한 코드임을 Javadoc으로 문서화</a:t>
            </a:r>
            <a:endParaRPr b="1" sz="1200"/>
          </a:p>
        </p:txBody>
      </p:sp>
      <p:pic>
        <p:nvPicPr>
          <p:cNvPr id="213" name="Google Shape;21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55100"/>
            <a:ext cx="4023425" cy="23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2900" y="2255100"/>
            <a:ext cx="4611700" cy="23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/>
        </p:nvSpPr>
        <p:spPr>
          <a:xfrm>
            <a:off x="298275" y="833988"/>
            <a:ext cx="824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4</a:t>
            </a:r>
            <a:r>
              <a:rPr b="1" lang="ko" sz="1200"/>
              <a:t>. </a:t>
            </a:r>
            <a:r>
              <a:rPr b="1" lang="ko" sz="1200"/>
              <a:t>개선 효과</a:t>
            </a:r>
            <a:endParaRPr b="1" sz="1200"/>
          </a:p>
        </p:txBody>
      </p:sp>
      <p:graphicFrame>
        <p:nvGraphicFramePr>
          <p:cNvPr id="220" name="Google Shape;220;p32"/>
          <p:cNvGraphicFramePr/>
          <p:nvPr/>
        </p:nvGraphicFramePr>
        <p:xfrm>
          <a:off x="430625" y="127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{9BB10B2B-09E8-4361-938B-2A9405A3DC91}</a:tableStyleId>
              </a:tblPr>
              <a:tblGrid>
                <a:gridCol w="1855400"/>
                <a:gridCol w="5494700"/>
              </a:tblGrid>
              <a:tr h="26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/>
                        <a:t>구분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/>
                        <a:t>내용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6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/>
                        <a:t>오류 감지 시점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실행 전 정적 분석 단계에서 미리 감지 가능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/>
                        <a:t>책</a:t>
                      </a:r>
                      <a:r>
                        <a:rPr b="1" lang="ko" sz="1000"/>
                        <a:t>임 경계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책임 명확하게 분리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-. Checker : 정적으로 판단 가능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-. Executor : 값이 있어야 판단 가능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/>
                        <a:t>파이프라인 안정성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Checkr를 통과한 코드는 미선언 변수 오류 없이 실행 보장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/>
                        <a:t>유지보수성</a:t>
                      </a:r>
                      <a:endParaRPr b="1"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새 의미 오류 규칙 추가시 Checker에만 추가하면 되는 구조로 변경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1" name="Google Shape;221;p32"/>
          <p:cNvSpPr txBox="1"/>
          <p:nvPr/>
        </p:nvSpPr>
        <p:spPr>
          <a:xfrm>
            <a:off x="298275" y="197600"/>
            <a:ext cx="8512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191919"/>
                </a:solidFill>
              </a:rPr>
              <a:t>BP 사례2 -</a:t>
            </a:r>
            <a:r>
              <a:rPr b="1" lang="ko" sz="2500">
                <a:solidFill>
                  <a:srgbClr val="191919"/>
                </a:solidFill>
              </a:rPr>
              <a:t> </a:t>
            </a:r>
            <a:r>
              <a:rPr b="1" lang="ko" sz="1900">
                <a:solidFill>
                  <a:srgbClr val="191919"/>
                </a:solidFill>
              </a:rPr>
              <a:t>[Refactoring] SRP으로 Checker / Executor 역할 분리</a:t>
            </a:r>
            <a:endParaRPr sz="300"/>
          </a:p>
        </p:txBody>
      </p:sp>
      <p:sp>
        <p:nvSpPr>
          <p:cNvPr id="222" name="Google Shape;222;p32"/>
          <p:cNvSpPr txBox="1"/>
          <p:nvPr/>
        </p:nvSpPr>
        <p:spPr>
          <a:xfrm>
            <a:off x="298275" y="3565800"/>
            <a:ext cx="824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5</a:t>
            </a:r>
            <a:r>
              <a:rPr b="1" lang="ko" sz="1200"/>
              <a:t>. </a:t>
            </a:r>
            <a:r>
              <a:rPr b="1" lang="ko" sz="1200"/>
              <a:t>배운 점</a:t>
            </a:r>
            <a:endParaRPr b="1" sz="1200"/>
          </a:p>
        </p:txBody>
      </p:sp>
      <p:sp>
        <p:nvSpPr>
          <p:cNvPr id="223" name="Google Shape;223;p32"/>
          <p:cNvSpPr txBox="1"/>
          <p:nvPr/>
        </p:nvSpPr>
        <p:spPr>
          <a:xfrm>
            <a:off x="298275" y="3875550"/>
            <a:ext cx="804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. Test First 원칙의 중요성</a:t>
            </a:r>
            <a:r>
              <a:rPr b="1" lang="ko" sz="1200"/>
              <a:t> 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. </a:t>
            </a:r>
            <a:r>
              <a:rPr b="1" lang="ko" sz="1200"/>
              <a:t>기능 구현도 중요하지만, 책임 분리를 통한 유지보수성 확보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 . Code Review를 통해 버그 발견뿐만 아니라 설계 개선의 기회가 될 수 있음</a:t>
            </a:r>
            <a:endParaRPr b="1"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/>
        </p:nvSpPr>
        <p:spPr>
          <a:xfrm>
            <a:off x="360400" y="317525"/>
            <a:ext cx="542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시연1 - 프롬프트 모드 </a:t>
            </a:r>
            <a:endParaRPr/>
          </a:p>
        </p:txBody>
      </p:sp>
      <p:pic>
        <p:nvPicPr>
          <p:cNvPr id="229" name="Google Shape;22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1" y="1391516"/>
            <a:ext cx="8839198" cy="2360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/>
        </p:nvSpPr>
        <p:spPr>
          <a:xfrm>
            <a:off x="360400" y="317525"/>
            <a:ext cx="542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시연2 - </a:t>
            </a:r>
            <a:r>
              <a:rPr b="1" lang="ko" sz="3000">
                <a:solidFill>
                  <a:srgbClr val="191919"/>
                </a:solidFill>
              </a:rPr>
              <a:t>파일</a:t>
            </a:r>
            <a:r>
              <a:rPr b="1" lang="ko" sz="3000">
                <a:solidFill>
                  <a:srgbClr val="191919"/>
                </a:solidFill>
              </a:rPr>
              <a:t> </a:t>
            </a:r>
            <a:r>
              <a:rPr b="1" lang="ko" sz="3000">
                <a:solidFill>
                  <a:srgbClr val="191919"/>
                </a:solidFill>
              </a:rPr>
              <a:t>모드</a:t>
            </a:r>
            <a:r>
              <a:rPr b="1" lang="ko" sz="3000">
                <a:solidFill>
                  <a:srgbClr val="191919"/>
                </a:solidFill>
              </a:rPr>
              <a:t> </a:t>
            </a:r>
            <a:endParaRPr/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116425"/>
            <a:ext cx="6431475" cy="3526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2850" y="1189000"/>
            <a:ext cx="2494950" cy="338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/>
        </p:nvSpPr>
        <p:spPr>
          <a:xfrm>
            <a:off x="360400" y="317525"/>
            <a:ext cx="542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시연3 - </a:t>
            </a:r>
            <a:r>
              <a:rPr b="1" lang="ko" sz="3000">
                <a:solidFill>
                  <a:srgbClr val="191919"/>
                </a:solidFill>
              </a:rPr>
              <a:t>디버그</a:t>
            </a:r>
            <a:r>
              <a:rPr b="1" lang="ko" sz="3000">
                <a:solidFill>
                  <a:srgbClr val="191919"/>
                </a:solidFill>
              </a:rPr>
              <a:t> 모드 </a:t>
            </a:r>
            <a:endParaRPr/>
          </a:p>
        </p:txBody>
      </p:sp>
      <p:pic>
        <p:nvPicPr>
          <p:cNvPr id="242" name="Google Shape;24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851" y="1116425"/>
            <a:ext cx="6949925" cy="362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3149" y="2122025"/>
            <a:ext cx="1712000" cy="161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/>
        </p:nvSpPr>
        <p:spPr>
          <a:xfrm>
            <a:off x="360400" y="317525"/>
            <a:ext cx="759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시연4 - </a:t>
            </a:r>
            <a:r>
              <a:rPr b="1" lang="ko" sz="3000">
                <a:solidFill>
                  <a:srgbClr val="191919"/>
                </a:solidFill>
              </a:rPr>
              <a:t>기본 기능 (선언 &amp; 할당 &amp; 출력)</a:t>
            </a:r>
            <a:endParaRPr/>
          </a:p>
        </p:txBody>
      </p:sp>
      <p:pic>
        <p:nvPicPr>
          <p:cNvPr id="249" name="Google Shape;24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425" y="1279650"/>
            <a:ext cx="6193426" cy="258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0600" y="1612337"/>
            <a:ext cx="2581000" cy="191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/>
        </p:nvSpPr>
        <p:spPr>
          <a:xfrm>
            <a:off x="360400" y="317525"/>
            <a:ext cx="701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시연5 - 기본 기능 (산술 </a:t>
            </a:r>
            <a:r>
              <a:rPr b="1" lang="ko" sz="3000">
                <a:solidFill>
                  <a:srgbClr val="191919"/>
                </a:solidFill>
              </a:rPr>
              <a:t>연산 &amp;</a:t>
            </a:r>
            <a:r>
              <a:rPr b="1" lang="ko" sz="3000">
                <a:solidFill>
                  <a:srgbClr val="191919"/>
                </a:solidFill>
              </a:rPr>
              <a:t> 비교 연산) </a:t>
            </a:r>
            <a:endParaRPr/>
          </a:p>
        </p:txBody>
      </p:sp>
      <p:pic>
        <p:nvPicPr>
          <p:cNvPr id="256" name="Google Shape;25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7600" y="1116425"/>
            <a:ext cx="2186725" cy="306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16425"/>
            <a:ext cx="6489724" cy="211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8"/>
          <p:cNvSpPr txBox="1"/>
          <p:nvPr/>
        </p:nvSpPr>
        <p:spPr>
          <a:xfrm>
            <a:off x="360400" y="317525"/>
            <a:ext cx="701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시연6 - 기본 기능 (</a:t>
            </a:r>
            <a:r>
              <a:rPr b="1" lang="ko" sz="3000">
                <a:solidFill>
                  <a:srgbClr val="191919"/>
                </a:solidFill>
              </a:rPr>
              <a:t>조건문 &amp; 반복문</a:t>
            </a:r>
            <a:r>
              <a:rPr b="1" lang="ko" sz="3000">
                <a:solidFill>
                  <a:srgbClr val="191919"/>
                </a:solidFill>
              </a:rPr>
              <a:t>) </a:t>
            </a:r>
            <a:endParaRPr/>
          </a:p>
        </p:txBody>
      </p:sp>
      <p:pic>
        <p:nvPicPr>
          <p:cNvPr id="263" name="Google Shape;26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6500" y="1054378"/>
            <a:ext cx="3194157" cy="184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75" y="1054375"/>
            <a:ext cx="5723751" cy="161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9"/>
          <p:cNvSpPr txBox="1"/>
          <p:nvPr/>
        </p:nvSpPr>
        <p:spPr>
          <a:xfrm>
            <a:off x="360400" y="317525"/>
            <a:ext cx="823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시연7 - 기본 기능 (</a:t>
            </a:r>
            <a:r>
              <a:rPr b="1" lang="ko" sz="3000">
                <a:solidFill>
                  <a:srgbClr val="191919"/>
                </a:solidFill>
              </a:rPr>
              <a:t>블록 스코프</a:t>
            </a:r>
            <a:r>
              <a:rPr b="1" lang="ko" sz="3000">
                <a:solidFill>
                  <a:srgbClr val="191919"/>
                </a:solidFill>
              </a:rPr>
              <a:t> &amp; </a:t>
            </a:r>
            <a:r>
              <a:rPr b="1" lang="ko" sz="3000">
                <a:solidFill>
                  <a:srgbClr val="191919"/>
                </a:solidFill>
              </a:rPr>
              <a:t>에러 처리</a:t>
            </a:r>
            <a:r>
              <a:rPr b="1" lang="ko" sz="3000">
                <a:solidFill>
                  <a:srgbClr val="191919"/>
                </a:solidFill>
              </a:rPr>
              <a:t>) </a:t>
            </a:r>
            <a:endParaRPr/>
          </a:p>
        </p:txBody>
      </p:sp>
      <p:pic>
        <p:nvPicPr>
          <p:cNvPr id="270" name="Google Shape;27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1675" y="1116425"/>
            <a:ext cx="234315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16425"/>
            <a:ext cx="6299400" cy="3478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/>
          <p:nvPr/>
        </p:nvSpPr>
        <p:spPr>
          <a:xfrm>
            <a:off x="360400" y="317525"/>
            <a:ext cx="796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시연8 - </a:t>
            </a:r>
            <a:r>
              <a:rPr b="1" lang="ko" sz="3000">
                <a:solidFill>
                  <a:srgbClr val="191919"/>
                </a:solidFill>
              </a:rPr>
              <a:t>부가</a:t>
            </a:r>
            <a:r>
              <a:rPr b="1" lang="ko" sz="3000">
                <a:solidFill>
                  <a:srgbClr val="191919"/>
                </a:solidFill>
              </a:rPr>
              <a:t> 기능 (</a:t>
            </a:r>
            <a:r>
              <a:rPr b="1" lang="ko" sz="3000">
                <a:solidFill>
                  <a:srgbClr val="191919"/>
                </a:solidFill>
              </a:rPr>
              <a:t>상수 폴딩 &amp; 정적 배열)</a:t>
            </a:r>
            <a:r>
              <a:rPr b="1" lang="ko" sz="3000">
                <a:solidFill>
                  <a:srgbClr val="191919"/>
                </a:solidFill>
              </a:rPr>
              <a:t> </a:t>
            </a:r>
            <a:endParaRPr/>
          </a:p>
        </p:txBody>
      </p:sp>
      <p:pic>
        <p:nvPicPr>
          <p:cNvPr id="277" name="Google Shape;27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3800" y="1816275"/>
            <a:ext cx="3184550" cy="1600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200" y="1816275"/>
            <a:ext cx="5503901" cy="137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1"/>
          <p:cNvSpPr txBox="1"/>
          <p:nvPr/>
        </p:nvSpPr>
        <p:spPr>
          <a:xfrm>
            <a:off x="360400" y="317525"/>
            <a:ext cx="796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시연9 - 부가 기능 (</a:t>
            </a:r>
            <a:r>
              <a:rPr b="1" lang="ko" sz="3000">
                <a:solidFill>
                  <a:srgbClr val="191919"/>
                </a:solidFill>
              </a:rPr>
              <a:t>함수 &amp; 재귀 함수</a:t>
            </a:r>
            <a:r>
              <a:rPr b="1" lang="ko" sz="3000">
                <a:solidFill>
                  <a:srgbClr val="191919"/>
                </a:solidFill>
              </a:rPr>
              <a:t>) </a:t>
            </a:r>
            <a:endParaRPr/>
          </a:p>
        </p:txBody>
      </p:sp>
      <p:pic>
        <p:nvPicPr>
          <p:cNvPr id="284" name="Google Shape;28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87" y="1893163"/>
            <a:ext cx="5969282" cy="160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5000" y="1898813"/>
            <a:ext cx="2909000" cy="134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"/>
          <p:cNvSpPr txBox="1"/>
          <p:nvPr/>
        </p:nvSpPr>
        <p:spPr>
          <a:xfrm>
            <a:off x="360400" y="317525"/>
            <a:ext cx="796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시연10 - 부가 기능 (</a:t>
            </a:r>
            <a:r>
              <a:rPr b="1" lang="ko" sz="3000">
                <a:solidFill>
                  <a:srgbClr val="191919"/>
                </a:solidFill>
              </a:rPr>
              <a:t>정적 바인딩</a:t>
            </a:r>
            <a:r>
              <a:rPr b="1" lang="ko" sz="3000">
                <a:solidFill>
                  <a:srgbClr val="191919"/>
                </a:solidFill>
              </a:rPr>
              <a:t>) </a:t>
            </a:r>
            <a:endParaRPr/>
          </a:p>
        </p:txBody>
      </p:sp>
      <p:pic>
        <p:nvPicPr>
          <p:cNvPr id="291" name="Google Shape;29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7000" y="964013"/>
            <a:ext cx="220980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300" y="1263128"/>
            <a:ext cx="6204400" cy="91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 txBox="1"/>
          <p:nvPr/>
        </p:nvSpPr>
        <p:spPr>
          <a:xfrm>
            <a:off x="360400" y="317525"/>
            <a:ext cx="542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회고 및 소감</a:t>
            </a:r>
            <a:endParaRPr/>
          </a:p>
        </p:txBody>
      </p:sp>
      <p:sp>
        <p:nvSpPr>
          <p:cNvPr id="298" name="Google Shape;298;p43"/>
          <p:cNvSpPr txBox="1"/>
          <p:nvPr/>
        </p:nvSpPr>
        <p:spPr>
          <a:xfrm>
            <a:off x="-264900" y="1829550"/>
            <a:ext cx="45561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ko" sz="1200">
                <a:solidFill>
                  <a:schemeClr val="dk1"/>
                </a:solidFill>
              </a:rPr>
              <a:t>함께 해보니 인터프리터를 밑바닥부터 개발하는 게 매우 힘들었지만, 재미 있었어요. 렉서에서 한 번 삐끗하면 실행기까지 줄줄이 흔들리는데, </a:t>
            </a:r>
            <a:r>
              <a:rPr b="1" lang="ko" sz="1200">
                <a:solidFill>
                  <a:schemeClr val="accent1"/>
                </a:solidFill>
              </a:rPr>
              <a:t>TDD </a:t>
            </a:r>
            <a:r>
              <a:rPr lang="ko" sz="1200">
                <a:solidFill>
                  <a:schemeClr val="dk1"/>
                </a:solidFill>
              </a:rPr>
              <a:t>로 짜둔 </a:t>
            </a:r>
            <a:r>
              <a:rPr b="1" lang="ko" sz="1200">
                <a:solidFill>
                  <a:schemeClr val="accent1"/>
                </a:solidFill>
              </a:rPr>
              <a:t>유닛 테스트</a:t>
            </a:r>
            <a:r>
              <a:rPr lang="ko" sz="1200">
                <a:solidFill>
                  <a:schemeClr val="dk1"/>
                </a:solidFill>
              </a:rPr>
              <a:t>가 있으니 어디서 깨졌는지 바로 짚여서 훨씬 편했어요. 게다가 기능을 새로 얹을 때마다 기존 테스트가 그대로 돌아주니, "이번 변경이 예전 걸 망가뜨리진 않았나" </a:t>
            </a:r>
            <a:r>
              <a:rPr b="1" lang="ko" sz="1200">
                <a:solidFill>
                  <a:schemeClr val="accent1"/>
                </a:solidFill>
              </a:rPr>
              <a:t>걱정 없이 마음 놓고 </a:t>
            </a:r>
            <a:r>
              <a:rPr lang="ko" sz="1200">
                <a:solidFill>
                  <a:schemeClr val="dk1"/>
                </a:solidFill>
              </a:rPr>
              <a:t>개발할 수 있었습니다. 테스트가 받쳐준 덕에 이후 기능 추가가 훨씬 수월했어요. 덕분에 많이 배웠고, 같이 해서 즐거웠습니다.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9" name="Google Shape;299;p43"/>
          <p:cNvSpPr txBox="1"/>
          <p:nvPr/>
        </p:nvSpPr>
        <p:spPr>
          <a:xfrm>
            <a:off x="209225" y="1457550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</a:rPr>
              <a:t>순빈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00" name="Google Shape;300;p43"/>
          <p:cNvSpPr txBox="1"/>
          <p:nvPr/>
        </p:nvSpPr>
        <p:spPr>
          <a:xfrm>
            <a:off x="4458475" y="1457550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</a:rPr>
              <a:t>평강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01" name="Google Shape;301;p43"/>
          <p:cNvSpPr txBox="1"/>
          <p:nvPr/>
        </p:nvSpPr>
        <p:spPr>
          <a:xfrm>
            <a:off x="4422475" y="1829550"/>
            <a:ext cx="4227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혼자 실습할 때에는 </a:t>
            </a:r>
            <a:r>
              <a:rPr b="1" lang="ko" sz="1200">
                <a:solidFill>
                  <a:schemeClr val="accent1"/>
                </a:solidFill>
              </a:rPr>
              <a:t>Mock </a:t>
            </a:r>
            <a:r>
              <a:rPr lang="ko" sz="1200">
                <a:solidFill>
                  <a:schemeClr val="dk1"/>
                </a:solidFill>
              </a:rPr>
              <a:t>이나 </a:t>
            </a:r>
            <a:r>
              <a:rPr b="1" lang="ko" sz="1200">
                <a:solidFill>
                  <a:schemeClr val="accent1"/>
                </a:solidFill>
              </a:rPr>
              <a:t>Interface</a:t>
            </a:r>
            <a:r>
              <a:rPr lang="ko" sz="1200">
                <a:solidFill>
                  <a:schemeClr val="dk1"/>
                </a:solidFill>
              </a:rPr>
              <a:t>가 별로 의미 없다고 생각했었는데, </a:t>
            </a:r>
            <a:r>
              <a:rPr b="1" lang="ko" sz="1200">
                <a:solidFill>
                  <a:schemeClr val="accent1"/>
                </a:solidFill>
              </a:rPr>
              <a:t>의존성 있는 기능</a:t>
            </a:r>
            <a:r>
              <a:rPr lang="ko" sz="1200">
                <a:solidFill>
                  <a:schemeClr val="dk1"/>
                </a:solidFill>
              </a:rPr>
              <a:t>들을 </a:t>
            </a:r>
            <a:r>
              <a:rPr b="1" lang="ko" sz="1200">
                <a:solidFill>
                  <a:schemeClr val="accent1"/>
                </a:solidFill>
              </a:rPr>
              <a:t>병렬적으로 여러명</a:t>
            </a:r>
            <a:r>
              <a:rPr lang="ko" sz="1200">
                <a:solidFill>
                  <a:schemeClr val="dk1"/>
                </a:solidFill>
              </a:rPr>
              <a:t>이 개발하려고 하니 이러한 부분들이 왜 중요한지 알게 되었습니다. 대신에 이렇게 개발할 수 있게 인터페이스 등을 준비하는것도 loss일 수 있어 어떻게 </a:t>
            </a:r>
            <a:r>
              <a:rPr b="1" lang="ko" sz="1200">
                <a:solidFill>
                  <a:schemeClr val="accent1"/>
                </a:solidFill>
              </a:rPr>
              <a:t>역할 분담</a:t>
            </a:r>
            <a:r>
              <a:rPr lang="ko" sz="1200">
                <a:solidFill>
                  <a:schemeClr val="dk1"/>
                </a:solidFill>
              </a:rPr>
              <a:t>을 해야 좋을지 고민을 더 해봐야겠습니다.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4"/>
          <p:cNvSpPr txBox="1"/>
          <p:nvPr/>
        </p:nvSpPr>
        <p:spPr>
          <a:xfrm>
            <a:off x="360400" y="317525"/>
            <a:ext cx="542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회고 및 소감</a:t>
            </a:r>
            <a:endParaRPr/>
          </a:p>
        </p:txBody>
      </p:sp>
      <p:sp>
        <p:nvSpPr>
          <p:cNvPr id="307" name="Google Shape;307;p44"/>
          <p:cNvSpPr txBox="1"/>
          <p:nvPr/>
        </p:nvSpPr>
        <p:spPr>
          <a:xfrm>
            <a:off x="-264900" y="1829550"/>
            <a:ext cx="45636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ko" sz="1200">
                <a:solidFill>
                  <a:schemeClr val="dk1"/>
                </a:solidFill>
              </a:rPr>
              <a:t>소수인력으로 시스템을 운영하면서 요구사항에 맞는 기능 구현에만 초점을 맞추다보니 </a:t>
            </a:r>
            <a:r>
              <a:rPr b="1" lang="ko" sz="1200">
                <a:solidFill>
                  <a:schemeClr val="accent1"/>
                </a:solidFill>
              </a:rPr>
              <a:t>Test Code</a:t>
            </a:r>
            <a:r>
              <a:rPr lang="ko" sz="1200">
                <a:solidFill>
                  <a:schemeClr val="dk1"/>
                </a:solidFill>
              </a:rPr>
              <a:t>나 </a:t>
            </a:r>
            <a:r>
              <a:rPr b="1" lang="ko" sz="1200">
                <a:solidFill>
                  <a:schemeClr val="accent1"/>
                </a:solidFill>
              </a:rPr>
              <a:t>코드 리뷰</a:t>
            </a:r>
            <a:r>
              <a:rPr lang="ko" sz="1200">
                <a:solidFill>
                  <a:schemeClr val="dk1"/>
                </a:solidFill>
              </a:rPr>
              <a:t>에는 큰 관심을 가지지 않았는데, 이번에 팀 프로젝트를 진행하면서, Test를 잘 구축해놓았을때 훨씬 </a:t>
            </a:r>
            <a:r>
              <a:rPr b="1" lang="ko" sz="1200">
                <a:solidFill>
                  <a:schemeClr val="accent1"/>
                </a:solidFill>
              </a:rPr>
              <a:t>안정성 있는 코드 운영</a:t>
            </a:r>
            <a:r>
              <a:rPr lang="ko" sz="1200">
                <a:solidFill>
                  <a:schemeClr val="dk1"/>
                </a:solidFill>
              </a:rPr>
              <a:t>을 할 수 있다고 느꼈고, 코드 리뷰를 통해 혼자한다면 놓치는 부분들이 많다는 것을 배웠습니다. 현업에 돌아가서 시스템 담당자들과 더 좋은 </a:t>
            </a:r>
            <a:r>
              <a:rPr b="1" lang="ko" sz="1200">
                <a:solidFill>
                  <a:schemeClr val="accent1"/>
                </a:solidFill>
              </a:rPr>
              <a:t>코드리뷰 문화</a:t>
            </a:r>
            <a:r>
              <a:rPr lang="ko" sz="1200">
                <a:solidFill>
                  <a:schemeClr val="dk1"/>
                </a:solidFill>
              </a:rPr>
              <a:t>를 만들어봐야겠어요.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8" name="Google Shape;308;p44"/>
          <p:cNvSpPr txBox="1"/>
          <p:nvPr/>
        </p:nvSpPr>
        <p:spPr>
          <a:xfrm>
            <a:off x="209225" y="1457550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</a:rPr>
              <a:t>진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09" name="Google Shape;309;p44"/>
          <p:cNvSpPr txBox="1"/>
          <p:nvPr/>
        </p:nvSpPr>
        <p:spPr>
          <a:xfrm>
            <a:off x="4458475" y="1457550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</a:rPr>
              <a:t>서현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10" name="Google Shape;310;p44"/>
          <p:cNvSpPr txBox="1"/>
          <p:nvPr/>
        </p:nvSpPr>
        <p:spPr>
          <a:xfrm>
            <a:off x="4422475" y="1829550"/>
            <a:ext cx="4342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단시간에 좀 많은 기능을 팀원들이랑 </a:t>
            </a:r>
            <a:r>
              <a:rPr b="1" lang="ko" sz="1200">
                <a:solidFill>
                  <a:schemeClr val="accent1"/>
                </a:solidFill>
              </a:rPr>
              <a:t>병렬적으로 구현</a:t>
            </a:r>
            <a:r>
              <a:rPr lang="ko" sz="1200">
                <a:solidFill>
                  <a:schemeClr val="dk1"/>
                </a:solidFill>
              </a:rPr>
              <a:t>을 하면서 프로젝트를 진행 하면서 많은 것을 배웠습니다. 특히 Lexer, Parser, Checker, Executor를 역할별로 분리해서 진행을 하다보니까 중간중간에 중복되는 부분이나 구조적으로 리펙토링이 필요할 때마다다른 팀원께서 짠 코드를 건드릴 때가 있었는데 이럴때도</a:t>
            </a:r>
            <a:r>
              <a:rPr b="1" lang="ko" sz="1200">
                <a:solidFill>
                  <a:schemeClr val="accent1"/>
                </a:solidFill>
              </a:rPr>
              <a:t> 협업</a:t>
            </a:r>
            <a:r>
              <a:rPr lang="ko" sz="1200">
                <a:solidFill>
                  <a:schemeClr val="dk1"/>
                </a:solidFill>
              </a:rPr>
              <a:t>하면서 다른 팀원의 코드를 좀 더 깊이 이해할 수 있게 되었고 이런 기능 구현뿐만 아니라 </a:t>
            </a:r>
            <a:r>
              <a:rPr lang="ko" sz="1200">
                <a:solidFill>
                  <a:schemeClr val="accent1"/>
                </a:solidFill>
              </a:rPr>
              <a:t>리팩토링과 테스트의 가치도 체감</a:t>
            </a:r>
            <a:r>
              <a:rPr lang="ko" sz="1200">
                <a:solidFill>
                  <a:schemeClr val="dk1"/>
                </a:solidFill>
              </a:rPr>
              <a:t>할 수 있었던 의미 있는 프로젝트였습니다.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/>
        </p:nvSpPr>
        <p:spPr>
          <a:xfrm>
            <a:off x="3479400" y="2248500"/>
            <a:ext cx="218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191919"/>
                </a:solidFill>
              </a:rPr>
              <a:t>감사합니다.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